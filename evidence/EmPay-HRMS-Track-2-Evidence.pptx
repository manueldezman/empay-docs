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png" ContentType="image/png"/>
  <Default Extension="png" ContentType="image/png"/>
  <Default Extension="png" ContentType="image/png"/>
  <Default Extension="png" ContentType="image/png"/>
  <Default Extension="png" ContentType="image/png"/>
  <Default Extension="png" ContentType="image/png"/>
  <Default Extension="png" ContentType="image/pn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 b="1">
          <a:solidFill>
            <a:srgbClr val="10233F"/>
          </a:solidFill>
        </a:defRPr>
      </a:lvl1pPr>
    </p:titleStyle>
    <p:bodyStyle>
      <a:lvl1pPr>
        <a:defRPr sz="2000">
          <a:solidFill>
            <a:srgbClr val="0F172A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HTML.png"/><Relationship Id="rId6" Type="http://schemas.openxmlformats.org/officeDocument/2006/relationships/image" Target="../media/Markdown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JSON.png"/><Relationship Id="rId6" Type="http://schemas.openxmlformats.org/officeDocument/2006/relationships/image" Target="../media/JSONLD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Search.png"/><Relationship Id="rId6" Type="http://schemas.openxmlformats.org/officeDocument/2006/relationships/image" Target="../media/docsIndex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MCP server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2" Type="http://schemas.openxmlformats.org/officeDocument/2006/relationships/image" Target="../media/agent-readiness-before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2" Type="http://schemas.openxmlformats.org/officeDocument/2006/relationships/image" Target="../media/agent-readiness-after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idePanel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Kicker"/>
          <p:cNvSpPr txBox="1"/>
          <p:nvPr/>
        </p:nvSpPr>
        <p:spPr>
          <a:xfrm>
            <a:off x="762000" y="76200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FFFFFF"/>
                </a:solidFill>
                <a:latin typeface="DejaVu Sans"/>
                <a:cs typeface="DejaVu Sans"/>
              </a:rPr>
              <a:t>TRACK 2 EVIDENCE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762000" y="1428750"/>
            <a:ext cx="809625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5000"/>
              </a:lnSpc>
              <a:spcAft>
                <a:spcPts val="1200"/>
              </a:spcAft>
            </a:pPr>
            <a:r>
              <a:rPr lang="en-US" sz="4200" b="1" dirty="0">
                <a:solidFill>
                  <a:srgbClr val="FFFFFF"/>
                </a:solidFill>
                <a:latin typeface="DejaVu Sans"/>
                <a:cs typeface="DejaVu Sans"/>
              </a:rPr>
              <a:t>EmPay HRMS documentation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762000" y="2952750"/>
            <a:ext cx="6858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5000"/>
              </a:lnSpc>
              <a:spcAft>
                <a:spcPts val="1200"/>
              </a:spcAft>
            </a:pPr>
            <a:r>
              <a:rPr lang="en-US" sz="2000" b="0" dirty="0">
                <a:solidFill>
                  <a:srgbClr val="E2E8F0"/>
                </a:solidFill>
                <a:latin typeface="DejaVu Sans"/>
                <a:cs typeface="DejaVu Sans"/>
              </a:rPr>
              <a:t>Agent-ready developer docs for the EmPay HRMS REST API</a:t>
            </a:r>
          </a:p>
        </p:txBody>
      </p:sp>
      <p:sp>
        <p:nvSpPr>
          <p:cNvPr id="7" name="URL"/>
          <p:cNvSpPr txBox="1"/>
          <p:nvPr/>
        </p:nvSpPr>
        <p:spPr>
          <a:xfrm>
            <a:off x="762000" y="5334000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solidFill>
                  <a:srgbClr val="00C2A8"/>
                </a:solidFill>
                <a:latin typeface="DejaVu Sans"/>
                <a:cs typeface="DejaVu Sans"/>
              </a:rPr>
              <a:t>empay-api-docs.thally.app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Documentation at a glance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A complete developer reference and workflow site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12 substantive pages with clear navigation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Quickstart, task guides, troubleshooting, and changelog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49-operation OpenAPI reference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Published at empay-api-docs.thally.app</a:t>
            </a:r>
          </a:p>
        </p:txBody>
      </p:sp>
      <p:sp>
        <p:nvSpPr>
          <p:cNvPr id="12" name="MetricCard"/>
          <p:cNvSpPr/>
          <p:nvPr/>
        </p:nvSpPr>
        <p:spPr>
          <a:xfrm>
            <a:off x="6953250" y="1905000"/>
            <a:ext cx="4000500" cy="2095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3" name="MetricValue"/>
          <p:cNvSpPr txBox="1"/>
          <p:nvPr/>
        </p:nvSpPr>
        <p:spPr>
          <a:xfrm>
            <a:off x="7143750" y="2238375"/>
            <a:ext cx="3619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5600" b="1" dirty="0">
                <a:solidFill>
                  <a:srgbClr val="1D4ED8"/>
                </a:solidFill>
                <a:latin typeface="DejaVu Sans"/>
                <a:cs typeface="DejaVu Sans"/>
              </a:rPr>
              <a:t>49</a:t>
            </a:r>
          </a:p>
        </p:txBody>
      </p:sp>
      <p:sp>
        <p:nvSpPr>
          <p:cNvPr id="14" name="MetricLabel"/>
          <p:cNvSpPr txBox="1"/>
          <p:nvPr/>
        </p:nvSpPr>
        <p:spPr>
          <a:xfrm>
            <a:off x="7143750" y="3238500"/>
            <a:ext cx="3619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API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Developer workflow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From product understanding to task completion and recovery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Understand the product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Complete a real workflow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Recover when something goes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One guide, seven surfaces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“Request and review leave” was verified on September 5, 2026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HTML for human readers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Markdown for agent retrieval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JSON and JSON-LD for structured consumers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Search, agent index, and MCP for discovery and invocation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HTML and Markdown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The same guide is readable by humans and agents</a:t>
            </a:r>
          </a:p>
        </p:txBody>
      </p:sp>
      <p:pic>
        <p:nvPicPr>
          <p:cNvPr id="4" name="EvidenceImag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52625"/>
            <a:ext cx="4857750" cy="2733675"/>
          </a:xfrm>
          <a:prstGeom prst="rect">
            <a:avLst/>
          </a:prstGeom>
        </p:spPr>
      </p:pic>
      <p:sp>
        <p:nvSpPr>
          <p:cNvPr id="5" name="Caption1"/>
          <p:cNvSpPr txBox="1"/>
          <p:nvPr/>
        </p:nvSpPr>
        <p:spPr>
          <a:xfrm>
            <a:off x="762000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HTML</a:t>
            </a:r>
          </a:p>
        </p:txBody>
      </p:sp>
      <p:pic>
        <p:nvPicPr>
          <p:cNvPr id="6" name="EvidenceImage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952625"/>
            <a:ext cx="4857750" cy="2733675"/>
          </a:xfrm>
          <a:prstGeom prst="rect">
            <a:avLst/>
          </a:prstGeom>
        </p:spPr>
      </p:pic>
      <p:sp>
        <p:nvSpPr>
          <p:cNvPr id="7" name="Caption2"/>
          <p:cNvSpPr txBox="1"/>
          <p:nvPr/>
        </p:nvSpPr>
        <p:spPr>
          <a:xfrm>
            <a:off x="6238875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Markdown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Structured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JSON and JSON-LD expose the guide to machine clients</a:t>
            </a:r>
          </a:p>
        </p:txBody>
      </p:sp>
      <p:pic>
        <p:nvPicPr>
          <p:cNvPr id="4" name="EvidenceImag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52625"/>
            <a:ext cx="4857750" cy="2733675"/>
          </a:xfrm>
          <a:prstGeom prst="rect">
            <a:avLst/>
          </a:prstGeom>
        </p:spPr>
      </p:pic>
      <p:sp>
        <p:nvSpPr>
          <p:cNvPr id="5" name="Caption1"/>
          <p:cNvSpPr txBox="1"/>
          <p:nvPr/>
        </p:nvSpPr>
        <p:spPr>
          <a:xfrm>
            <a:off x="762000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JSON</a:t>
            </a:r>
          </a:p>
        </p:txBody>
      </p:sp>
      <p:pic>
        <p:nvPicPr>
          <p:cNvPr id="6" name="EvidenceImage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952625"/>
            <a:ext cx="4857750" cy="2733675"/>
          </a:xfrm>
          <a:prstGeom prst="rect">
            <a:avLst/>
          </a:prstGeom>
        </p:spPr>
      </p:pic>
      <p:sp>
        <p:nvSpPr>
          <p:cNvPr id="7" name="Caption2"/>
          <p:cNvSpPr txBox="1"/>
          <p:nvPr/>
        </p:nvSpPr>
        <p:spPr>
          <a:xfrm>
            <a:off x="6238875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JSON-LD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Discovery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Search and the agent index locate the guide</a:t>
            </a:r>
          </a:p>
        </p:txBody>
      </p:sp>
      <p:pic>
        <p:nvPicPr>
          <p:cNvPr id="4" name="EvidenceImag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52625"/>
            <a:ext cx="4857750" cy="2733675"/>
          </a:xfrm>
          <a:prstGeom prst="rect">
            <a:avLst/>
          </a:prstGeom>
        </p:spPr>
      </p:pic>
      <p:sp>
        <p:nvSpPr>
          <p:cNvPr id="5" name="Caption1"/>
          <p:cNvSpPr txBox="1"/>
          <p:nvPr/>
        </p:nvSpPr>
        <p:spPr>
          <a:xfrm>
            <a:off x="762000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Search</a:t>
            </a:r>
          </a:p>
        </p:txBody>
      </p:sp>
      <p:pic>
        <p:nvPicPr>
          <p:cNvPr id="6" name="EvidenceImage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952625"/>
            <a:ext cx="4857750" cy="2733675"/>
          </a:xfrm>
          <a:prstGeom prst="rect">
            <a:avLst/>
          </a:prstGeom>
        </p:spPr>
      </p:pic>
      <p:sp>
        <p:nvSpPr>
          <p:cNvPr id="7" name="Caption2"/>
          <p:cNvSpPr txBox="1"/>
          <p:nvPr/>
        </p:nvSpPr>
        <p:spPr>
          <a:xfrm>
            <a:off x="6238875" y="4857750"/>
            <a:ext cx="4857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600" b="1" dirty="0">
                <a:solidFill>
                  <a:srgbClr val="475569"/>
                </a:solidFill>
                <a:latin typeface="DejaVu Sans"/>
                <a:cs typeface="DejaVu Sans"/>
              </a:rPr>
              <a:t>Agent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MCP evidence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The MCP endpoint initializes successfully</a:t>
            </a:r>
          </a:p>
        </p:txBody>
      </p:sp>
      <p:pic>
        <p:nvPicPr>
          <p:cNvPr id="4" name="Evidence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62125"/>
            <a:ext cx="9144000" cy="40005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857250" y="5857875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75569"/>
                </a:solidFill>
                <a:latin typeface="DejaVu Sans"/>
                <a:cs typeface="DejaVu Sans"/>
              </a:rPr>
              <a:t>MCP server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Agent Readiness before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Initial published site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Score: 99/100 (A)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5 of 6 checks passed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Content quality: 92% (11/12 pages)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Finding: /changelog had no content heading</a:t>
            </a:r>
          </a:p>
        </p:txBody>
      </p:sp>
      <p:pic>
        <p:nvPicPr>
          <p:cNvPr id="12" name="Evidence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952625"/>
            <a:ext cx="5334000" cy="3000375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096000" y="50482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75569"/>
                </a:solidFill>
                <a:latin typeface="DejaVu Sans"/>
                <a:cs typeface="DejaVu Sans"/>
              </a:rPr>
              <a:t>Agent Readiness before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Reviewed improvement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Thally identified the changelog finding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Author added “## Documentation updates” above the release entries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Meaning preserved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Issue resolved for both human and machine readers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Agent Readiness after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Revised published site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Score: 100/100 (A)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6 of 6 checks passed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Content quality: 100%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Pages needing attention: 0</a:t>
            </a:r>
          </a:p>
        </p:txBody>
      </p:sp>
      <p:pic>
        <p:nvPicPr>
          <p:cNvPr id="12" name="Evidence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952625"/>
            <a:ext cx="5334000" cy="3000375"/>
          </a:xfrm>
          <a:prstGeom prst="rect">
            <a:avLst/>
          </a:prstGeom>
        </p:spPr>
      </p:pic>
      <p:sp>
        <p:nvSpPr>
          <p:cNvPr id="13" name="Caption"/>
          <p:cNvSpPr txBox="1"/>
          <p:nvPr/>
        </p:nvSpPr>
        <p:spPr>
          <a:xfrm>
            <a:off x="6096000" y="5048250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</a:pPr>
            <a:r>
              <a:rPr lang="en-US" sz="1400" b="0" dirty="0">
                <a:solidFill>
                  <a:srgbClr val="475569"/>
                </a:solidFill>
                <a:latin typeface="DejaVu Sans"/>
                <a:cs typeface="DejaVu Sans"/>
              </a:rPr>
              <a:t>Agent Readiness after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10233F"/>
                </a:solidFill>
                <a:latin typeface="DejaVu Sans"/>
                <a:cs typeface="DejaVu Sans"/>
              </a:rPr>
              <a:t>Reproducible submission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475569"/>
                </a:solidFill>
                <a:latin typeface="DejaVu Sans"/>
                <a:cs typeface="DejaVu Sans"/>
              </a:rPr>
              <a:t>Clean clone at commit 923c5f6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Install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Thally check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351 tests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Production build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Accent"/>
          <p:cNvSpPr/>
          <p:nvPr/>
        </p:nvSpPr>
        <p:spPr>
          <a:xfrm>
            <a:off x="609600" y="514350"/>
            <a:ext cx="495300" cy="762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09600" y="723900"/>
            <a:ext cx="9525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</a:pPr>
            <a:r>
              <a:rPr lang="en-US" sz="3000" b="1" dirty="0">
                <a:solidFill>
                  <a:srgbClr val="FFFFFF"/>
                </a:solidFill>
                <a:latin typeface="DejaVu Sans"/>
                <a:cs typeface="DejaVu Sans"/>
              </a:rPr>
              <a:t>Submission proof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33500"/>
            <a:ext cx="9525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1800" b="0" dirty="0">
                <a:solidFill>
                  <a:srgbClr val="E2E8F0"/>
                </a:solidFill>
                <a:latin typeface="DejaVu Sans"/>
                <a:cs typeface="DejaVu Sans"/>
              </a:rPr>
              <a:t>Track 2 complete</a:t>
            </a:r>
          </a:p>
        </p:txBody>
      </p:sp>
      <p:sp>
        <p:nvSpPr>
          <p:cNvPr id="4" name="BulletDot"/>
          <p:cNvSpPr/>
          <p:nvPr/>
        </p:nvSpPr>
        <p:spPr>
          <a:xfrm>
            <a:off x="685800" y="21050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Bullet"/>
          <p:cNvSpPr txBox="1"/>
          <p:nvPr/>
        </p:nvSpPr>
        <p:spPr>
          <a:xfrm>
            <a:off x="952500" y="20002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Agent-ready documentation shape</a:t>
            </a:r>
          </a:p>
        </p:txBody>
      </p:sp>
      <p:sp>
        <p:nvSpPr>
          <p:cNvPr id="6" name="BulletDot"/>
          <p:cNvSpPr/>
          <p:nvPr/>
        </p:nvSpPr>
        <p:spPr>
          <a:xfrm>
            <a:off x="685800" y="26193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Bullet"/>
          <p:cNvSpPr txBox="1"/>
          <p:nvPr/>
        </p:nvSpPr>
        <p:spPr>
          <a:xfrm>
            <a:off x="952500" y="25146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Reviewed improvement from 99 to 100</a:t>
            </a:r>
          </a:p>
        </p:txBody>
      </p:sp>
      <p:sp>
        <p:nvSpPr>
          <p:cNvPr id="8" name="BulletDot"/>
          <p:cNvSpPr/>
          <p:nvPr/>
        </p:nvSpPr>
        <p:spPr>
          <a:xfrm>
            <a:off x="685800" y="313372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ullet"/>
          <p:cNvSpPr txBox="1"/>
          <p:nvPr/>
        </p:nvSpPr>
        <p:spPr>
          <a:xfrm>
            <a:off x="952500" y="302895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Cross-surface verification of a meaningful guide</a:t>
            </a:r>
          </a:p>
        </p:txBody>
      </p:sp>
      <p:sp>
        <p:nvSpPr>
          <p:cNvPr id="10" name="BulletDot"/>
          <p:cNvSpPr/>
          <p:nvPr/>
        </p:nvSpPr>
        <p:spPr>
          <a:xfrm>
            <a:off x="685800" y="3648075"/>
            <a:ext cx="114300" cy="114300"/>
          </a:xfrm>
          <a:prstGeom prst="roundRect">
            <a:avLst/>
          </a:prstGeom>
          <a:solidFill>
            <a:srgbClr val="00C2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Bullet"/>
          <p:cNvSpPr txBox="1"/>
          <p:nvPr/>
        </p:nvSpPr>
        <p:spPr>
          <a:xfrm>
            <a:off x="952500" y="3543300"/>
            <a:ext cx="97155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</a:pPr>
            <a:r>
              <a:rPr lang="en-US" sz="2000" b="0" dirty="0">
                <a:solidFill>
                  <a:srgbClr val="0F172A"/>
                </a:solidFill>
                <a:latin typeface="DejaVu Sans"/>
                <a:cs typeface="DejaVu Sans"/>
              </a:rPr>
              <a:t>All evidence is available in the `evidence/` folder in this repository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mPay">
  <a:themeElements>
    <a:clrScheme name="EmPay">
      <a:dk1>
        <a:srgbClr val="10233F"/>
      </a:dk1>
      <a:lt1>
        <a:srgbClr val="FFFFFF"/>
      </a:lt1>
      <a:dk2>
        <a:srgbClr val="1D4ED8"/>
      </a:dk2>
      <a:lt2>
        <a:srgbClr val="F8FAFC"/>
      </a:lt2>
      <a:accent1>
        <a:srgbClr val="00C2A8"/>
      </a:accent1>
      <a:accent2>
        <a:srgbClr val="F59E0B"/>
      </a:accent2>
      <a:accent3>
        <a:srgbClr val="DC2626"/>
      </a:accent3>
      <a:accent4>
        <a:srgbClr val="475569"/>
      </a:accent4>
      <a:accent5>
        <a:srgbClr val="E2E8F0"/>
      </a:accent5>
      <a:accent6>
        <a:srgbClr val="0F172A"/>
      </a:accent6>
      <a:hlink>
        <a:srgbClr val="1D4ED8"/>
      </a:hlink>
      <a:folHlink>
        <a:srgbClr val="1D4ED8"/>
      </a:folHlink>
    </a:clrScheme>
    <a:fontScheme name="EmPay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EmPa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Company>EmPay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EmPay HRMS documentation | Track 2 evidence</dc:title>
  <dc:creator>OpenAI Codex</dc:creator>
  <cp:lastModifiedBy>OpenAI Codex</cp:lastModifiedBy>
  <dcterms:created xsi:type="dcterms:W3CDTF">2026-09-05T00:00:00Z</dcterms:created>
  <dcterms:modified xsi:type="dcterms:W3CDTF">2026-09-05T00:00:00Z</dcterms:modified>
</cp:coreProperties>
</file>